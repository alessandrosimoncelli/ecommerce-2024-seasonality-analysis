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56" r:id="rId2"/>
    <p:sldId id="257" r:id="rId3"/>
    <p:sldId id="259" r:id="rId4"/>
    <p:sldId id="258" r:id="rId5"/>
    <p:sldId id="260" r:id="rId6"/>
    <p:sldId id="261" r:id="rId7"/>
    <p:sldId id="268" r:id="rId8"/>
    <p:sldId id="269" r:id="rId9"/>
    <p:sldId id="270" r:id="rId10"/>
    <p:sldId id="272" r:id="rId11"/>
    <p:sldId id="273" r:id="rId12"/>
    <p:sldId id="271" r:id="rId13"/>
    <p:sldId id="262" r:id="rId14"/>
    <p:sldId id="264" r:id="rId15"/>
    <p:sldId id="265" r:id="rId16"/>
    <p:sldId id="266" r:id="rId17"/>
    <p:sldId id="267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4C38CE-0136-48D8-AEA7-B543709C9F8F}" v="68" dt="2026-02-16T04:27:37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C053B-1F72-458D-AC31-643C1EA77AD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A532D-793C-4F66-B859-7080CB5B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3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A532D-793C-4F66-B859-7080CB5BBD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51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A532D-793C-4F66-B859-7080CB5BBD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69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A532D-793C-4F66-B859-7080CB5BBD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66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A532D-793C-4F66-B859-7080CB5BBD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60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A532D-793C-4F66-B859-7080CB5BBD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61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64B74-2D56-F0AE-B61F-654FCACB9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7976A-FBB0-3CE7-8A29-D746B31DE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6D07D-418A-7CB5-32F3-AD08C1332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81441-47FD-CA31-CEFA-A6DA881B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B7D91-437E-9D26-C48F-D4BEE1C3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5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F3DF-EE92-97A2-884C-DAE164AA6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862F0-B461-EB62-18AA-160257769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8DA43-F9D4-BFD4-9969-7659E15AA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D00DC-751C-E343-1105-90378451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8B686-10F7-9F18-3A60-733B183D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4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16F1-85AD-BDC1-E58F-03F15136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BD08D-796F-874A-97A6-EC03C7C88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6A53-4E16-272E-4DA2-94ACF03E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DC50-785B-8EDC-4847-2B720F97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65128-B2EF-9B33-DFD1-6C2B27D8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3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D48E-4F41-CDA9-6848-35AA6D59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A2C2A-A59E-E6BE-497C-2CC9A1763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9A602-349D-9FAF-8C6D-55E3208A7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1E807-4119-4EE5-9BAB-3F29B6B5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98F3F-CE38-5300-C284-02DB11E7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41FD-A44A-1909-CFFF-4F7CA7C1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6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2187-73D8-3DE4-A06B-0746C3CD4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9DB60-9D4A-79EC-060B-973B37AC8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AA9BB-5AE9-5E04-A296-58CEE5440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1EE95-750D-D10C-AC51-92F58F6D5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6BCEE-7AAC-800C-1FDE-E326771DF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5E198-BD77-EFCD-EE5E-42904DCE8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E0355-63C1-EA85-CA5C-A691F7164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5D7645-36C4-E135-F784-CEEE8C40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9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344C-E840-EE3F-F7E1-9DE8FFD8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7C9F5-1E34-8EAF-0117-1615FC5CD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5F356-D0C7-D7A9-AAFB-849EA301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B0BA3-9D08-DBDC-BB44-7B830D45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2875D0-2445-F07E-A419-33F96B86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20F79B-4BD3-AF03-D145-EFCCCB95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9F28C-2A09-85FE-246A-89CE82C7F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F0AF7-E73F-29E2-ACB3-77F8983DF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E0323-A440-0808-3353-2111DFAED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4AFD2-D081-881C-CC13-425AC5380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95495-E3B9-B77C-5705-F18B98980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A809A-E62C-6234-21C5-11608226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BFD8D-EA54-5E50-F92B-2FA7608D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3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A891-BCD6-7C1E-817A-8B47203B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1FE894-4254-9B9A-7E86-1027F148C1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76270-1EED-E003-5E34-EB66267D6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43195-D87D-1DFC-035A-1ECE9D20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7C280-11DD-EDAC-6AB8-76C0E143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D68F1-2B10-44B9-1682-7FF05CBF3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AB9A-247D-34F8-F221-B6E4B4B1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31777-DF7C-8BF4-44EB-19368056C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E93BC-7513-CC85-7666-B5263D17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20D35-682B-88FA-1B35-EE6115FDB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F3BF4-6B7C-B7BE-0383-AB3625D5C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D8E20-0200-6792-C5B8-BC36816FA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A77F8-6C63-0156-4E2C-36EADA322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F8954-66E6-20A8-B12E-17064F8F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A8D1B-8605-BCF1-08F1-5E2A9A30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FFB4-1C83-E564-F374-4F14C891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76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9514-1CC1-E8D1-19D7-0757509C9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33BB6-42C3-50E4-F8B9-C8411DC54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D927B-D996-E23B-7684-F2F1BD0BF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9D4AF-3536-4C94-940B-473254BC081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CBB3D-56DC-B3A2-CFF7-B0D2358C0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38E6B-716B-3A6D-2E3C-F348CD326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9802A-27C7-4547-AADE-06ECE4620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80D62-2292-516B-1073-797591E0B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it-IT" dirty="0"/>
              <a:t>A1 – Data </a:t>
            </a:r>
            <a:r>
              <a:rPr lang="it-IT" dirty="0" err="1"/>
              <a:t>Visualization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050AC-6850-709C-1E5F-BD2E869F2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it-IT" dirty="0"/>
              <a:t>Simoncelli Alessandro</a:t>
            </a:r>
          </a:p>
          <a:p>
            <a:r>
              <a:rPr lang="it-IT" dirty="0" err="1"/>
              <a:t>Hult</a:t>
            </a:r>
            <a:r>
              <a:rPr lang="it-IT" dirty="0"/>
              <a:t> International Business School</a:t>
            </a:r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1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556CA-E276-C60A-01D9-4EC0951D7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8785" y="161474"/>
            <a:ext cx="3417580" cy="777001"/>
          </a:xfrm>
        </p:spPr>
        <p:txBody>
          <a:bodyPr>
            <a:normAutofit/>
          </a:bodyPr>
          <a:lstStyle/>
          <a:p>
            <a:r>
              <a:rPr lang="it-IT" sz="3500" dirty="0"/>
              <a:t>2024 OVERVIEW</a:t>
            </a:r>
            <a:endParaRPr lang="en-US" sz="35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6B4B704-0647-4DBF-4F12-C6D4EEE0F6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0" y="1715475"/>
            <a:ext cx="6291847" cy="4187211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9212C73-A415-78C1-2634-5FBF0D33333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71810" y="945482"/>
            <a:ext cx="10695982" cy="7041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D51680E-360A-A653-9057-2B37B45A2602}"/>
              </a:ext>
            </a:extLst>
          </p:cNvPr>
          <p:cNvSpPr txBox="1"/>
          <p:nvPr/>
        </p:nvSpPr>
        <p:spPr>
          <a:xfrm>
            <a:off x="7167716" y="2342017"/>
            <a:ext cx="479984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Heavy </a:t>
            </a:r>
            <a:r>
              <a:rPr lang="en-US" sz="2000" b="0" i="0" u="sng" dirty="0">
                <a:effectLst/>
              </a:rPr>
              <a:t>November dependency</a:t>
            </a:r>
            <a:r>
              <a:rPr lang="en-US" sz="2000" b="0" i="0" dirty="0">
                <a:effectLst/>
              </a:rPr>
              <a:t>: 32% of annual revenue concentrated in one month.</a:t>
            </a:r>
          </a:p>
          <a:p>
            <a:pPr algn="l"/>
            <a:endParaRPr lang="en-US" sz="2000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sng" dirty="0">
                <a:effectLst/>
              </a:rPr>
              <a:t>Margin compression at peak: </a:t>
            </a:r>
            <a:r>
              <a:rPr lang="en-US" sz="2000" b="0" i="0" dirty="0">
                <a:effectLst/>
              </a:rPr>
              <a:t>Profit margins decrease when sales spike in November</a:t>
            </a:r>
          </a:p>
          <a:p>
            <a:pPr algn="l"/>
            <a:endParaRPr lang="en-US" sz="2000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u="sng" dirty="0">
                <a:effectLst/>
              </a:rPr>
              <a:t>Volume-margin tradeoff</a:t>
            </a:r>
            <a:r>
              <a:rPr lang="en-US" sz="2000" b="0" i="0" dirty="0">
                <a:effectLst/>
              </a:rPr>
              <a:t>: Revenue growth driven by discounting, eroding profitability</a:t>
            </a:r>
          </a:p>
        </p:txBody>
      </p:sp>
    </p:spTree>
    <p:extLst>
      <p:ext uri="{BB962C8B-B14F-4D97-AF65-F5344CB8AC3E}">
        <p14:creationId xmlns:p14="http://schemas.microsoft.com/office/powerpoint/2010/main" val="271436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210"/>
    </mc:Choice>
    <mc:Fallback xmlns="">
      <p:transition spd="slow" advTm="5021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B385F-1200-C2B8-7BCC-393D1B84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0848-DDBF-A5AA-71CD-76E35F848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85325" cy="418646"/>
          </a:xfrm>
        </p:spPr>
        <p:txBody>
          <a:bodyPr>
            <a:noAutofit/>
          </a:bodyPr>
          <a:lstStyle/>
          <a:p>
            <a:pPr algn="ctr"/>
            <a:r>
              <a:rPr lang="it-IT" sz="3500" dirty="0" err="1"/>
              <a:t>Departments</a:t>
            </a:r>
            <a:r>
              <a:rPr lang="it-IT" sz="3500" dirty="0"/>
              <a:t> Strategic Positioning</a:t>
            </a:r>
            <a:endParaRPr lang="en-US" sz="35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C442BD-BB53-F077-4E34-AE9358558A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85137" y="1058975"/>
            <a:ext cx="8773375" cy="474004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2C055-7D64-1E7A-7E2F-264118754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2155" y="1220680"/>
            <a:ext cx="2743199" cy="4373875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Technology: Largest dept (27% of total sales) with avg volatility but modest margin.</a:t>
            </a:r>
          </a:p>
          <a:p>
            <a:r>
              <a:rPr lang="en-US" sz="2000" dirty="0"/>
              <a:t>Greenery/Naturals: High-margin seasonal powerhouse (35%+) concentrated in Q4</a:t>
            </a:r>
          </a:p>
          <a:p>
            <a:r>
              <a:rPr lang="en-US" sz="2000" dirty="0"/>
              <a:t>Seasonal departments: Drive November peak but demand precise inventory timing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B5DE41-0AE3-FB25-9036-D0FA2FB45E5D}"/>
              </a:ext>
            </a:extLst>
          </p:cNvPr>
          <p:cNvSpPr txBox="1"/>
          <p:nvPr/>
        </p:nvSpPr>
        <p:spPr>
          <a:xfrm>
            <a:off x="1366686" y="5920338"/>
            <a:ext cx="4345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 Bubble size represents 2024 total sales volume.</a:t>
            </a:r>
          </a:p>
        </p:txBody>
      </p:sp>
    </p:spTree>
    <p:extLst>
      <p:ext uri="{BB962C8B-B14F-4D97-AF65-F5344CB8AC3E}">
        <p14:creationId xmlns:p14="http://schemas.microsoft.com/office/powerpoint/2010/main" val="381522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47"/>
    </mc:Choice>
    <mc:Fallback xmlns="">
      <p:transition spd="slow" advTm="5474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D76D-F0AF-F91C-7F11-A63CE8FCB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85325" cy="41864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Vendor Portfolio Action Plan</a:t>
            </a:r>
            <a:endParaRPr lang="en-US" sz="35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0343A5-3519-AB16-7E86-D96C411D8F3F}"/>
              </a:ext>
            </a:extLst>
          </p:cNvPr>
          <p:cNvSpPr txBox="1"/>
          <p:nvPr/>
        </p:nvSpPr>
        <p:spPr>
          <a:xfrm>
            <a:off x="3575067" y="5876004"/>
            <a:ext cx="4345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 Bubble size represents 2024 total sales volume.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E070EB-EAAC-9076-71A6-C3DAC967F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704" y="1390917"/>
            <a:ext cx="7995706" cy="45374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C9C4F8-B799-14D5-9B2E-5C930B63BB6E}"/>
              </a:ext>
            </a:extLst>
          </p:cNvPr>
          <p:cNvSpPr txBox="1"/>
          <p:nvPr/>
        </p:nvSpPr>
        <p:spPr>
          <a:xfrm>
            <a:off x="3594082" y="6131380"/>
            <a:ext cx="47735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 Filtered by Vendors that sell at least one unit every month.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8DBAF3-675B-F8EF-FFEC-3EBA44103753}"/>
              </a:ext>
            </a:extLst>
          </p:cNvPr>
          <p:cNvSpPr/>
          <p:nvPr/>
        </p:nvSpPr>
        <p:spPr>
          <a:xfrm>
            <a:off x="111808" y="191378"/>
            <a:ext cx="1880011" cy="11847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/>
              <a:t>- Scale with year-round marketing; </a:t>
            </a:r>
            <a:br>
              <a:rPr lang="en-US" sz="1500" dirty="0"/>
            </a:br>
            <a:r>
              <a:rPr lang="en-US" sz="1500" dirty="0"/>
              <a:t>- Negotiate exclusive SKUs.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D3B96E-9814-E0F3-E19F-3D9CFA1AD4EF}"/>
              </a:ext>
            </a:extLst>
          </p:cNvPr>
          <p:cNvSpPr/>
          <p:nvPr/>
        </p:nvSpPr>
        <p:spPr>
          <a:xfrm>
            <a:off x="111807" y="1405943"/>
            <a:ext cx="1880011" cy="11847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Expected Impact:</a:t>
            </a:r>
            <a:br>
              <a:rPr lang="en-US" sz="1500" dirty="0"/>
            </a:br>
            <a:r>
              <a:rPr lang="en-US" sz="1500" dirty="0"/>
              <a:t>Reduce Q4 dependency by increasing evergreen sales by 20-25%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626430-B557-75A1-FE72-F2BB43DB79D3}"/>
              </a:ext>
            </a:extLst>
          </p:cNvPr>
          <p:cNvSpPr/>
          <p:nvPr/>
        </p:nvSpPr>
        <p:spPr>
          <a:xfrm>
            <a:off x="10129295" y="347898"/>
            <a:ext cx="1880011" cy="11847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- Secure inventory 8-10 weeks early. </a:t>
            </a:r>
            <a:br>
              <a:rPr lang="en-US" sz="1500" dirty="0"/>
            </a:br>
            <a:r>
              <a:rPr lang="en-US" sz="1500" dirty="0"/>
              <a:t>- Early-order volume discounts.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0D074E-015F-6F66-88F6-DADC6CF0A7FD}"/>
              </a:ext>
            </a:extLst>
          </p:cNvPr>
          <p:cNvSpPr/>
          <p:nvPr/>
        </p:nvSpPr>
        <p:spPr>
          <a:xfrm>
            <a:off x="10129295" y="1655986"/>
            <a:ext cx="1880011" cy="1352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Impact: Capture peak demand without capital strain.</a:t>
            </a:r>
            <a:br>
              <a:rPr lang="en-US" sz="1500" dirty="0"/>
            </a:br>
            <a:r>
              <a:rPr lang="en-US" sz="1500" dirty="0"/>
              <a:t>Maximize Q4 margin contribution.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EAD3F2-1F90-BFD9-0F87-8F83CBE962B3}"/>
              </a:ext>
            </a:extLst>
          </p:cNvPr>
          <p:cNvSpPr/>
          <p:nvPr/>
        </p:nvSpPr>
        <p:spPr>
          <a:xfrm>
            <a:off x="10129294" y="4792914"/>
            <a:ext cx="1880011" cy="11847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✓ No high-risk seasonal vendors identified: strong portfolio discipline maintained.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F425E8-CEC8-7784-B658-8DAC29594C24}"/>
              </a:ext>
            </a:extLst>
          </p:cNvPr>
          <p:cNvSpPr/>
          <p:nvPr/>
        </p:nvSpPr>
        <p:spPr>
          <a:xfrm>
            <a:off x="40923" y="3805297"/>
            <a:ext cx="1880011" cy="11847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dirty="0"/>
              <a:t>- Test price </a:t>
            </a:r>
            <a:r>
              <a:rPr lang="it-IT" sz="1500" dirty="0" err="1"/>
              <a:t>increase</a:t>
            </a:r>
            <a:r>
              <a:rPr lang="it-IT" sz="1500" dirty="0"/>
              <a:t>.</a:t>
            </a:r>
            <a:br>
              <a:rPr lang="it-IT" sz="1500" dirty="0"/>
            </a:br>
            <a:r>
              <a:rPr lang="it-IT" sz="1500" dirty="0"/>
              <a:t>-Focus on </a:t>
            </a:r>
            <a:r>
              <a:rPr lang="it-IT" sz="1500" dirty="0" err="1"/>
              <a:t>Provocraft</a:t>
            </a:r>
            <a:endParaRPr lang="it-IT" sz="1500" dirty="0"/>
          </a:p>
          <a:p>
            <a:pPr algn="ctr"/>
            <a:r>
              <a:rPr lang="it-IT" sz="1500" dirty="0"/>
              <a:t>(</a:t>
            </a:r>
            <a:r>
              <a:rPr lang="it-IT" sz="1500" dirty="0" err="1"/>
              <a:t>Identify</a:t>
            </a:r>
            <a:r>
              <a:rPr lang="it-IT" sz="1500" dirty="0"/>
              <a:t> </a:t>
            </a:r>
            <a:r>
              <a:rPr lang="it-IT" sz="1500" dirty="0" err="1"/>
              <a:t>unprofitable</a:t>
            </a:r>
            <a:r>
              <a:rPr lang="it-IT" sz="1500" dirty="0"/>
              <a:t> </a:t>
            </a:r>
            <a:r>
              <a:rPr lang="it-IT" sz="1500" dirty="0" err="1"/>
              <a:t>SKUs</a:t>
            </a:r>
            <a:r>
              <a:rPr lang="it-IT" sz="1500" dirty="0"/>
              <a:t>)</a:t>
            </a:r>
            <a:br>
              <a:rPr lang="it-IT" sz="1500" dirty="0"/>
            </a:br>
            <a:r>
              <a:rPr lang="it-IT" sz="1500" dirty="0"/>
              <a:t>(</a:t>
            </a:r>
            <a:r>
              <a:rPr lang="it-IT" sz="1500" dirty="0" err="1"/>
              <a:t>next</a:t>
            </a:r>
            <a:r>
              <a:rPr lang="it-IT" sz="1500" dirty="0"/>
              <a:t> slide)</a:t>
            </a:r>
            <a:endParaRPr lang="en-US" sz="15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E6A148-BD0E-9D7A-E4D8-192661DF03FF}"/>
              </a:ext>
            </a:extLst>
          </p:cNvPr>
          <p:cNvSpPr/>
          <p:nvPr/>
        </p:nvSpPr>
        <p:spPr>
          <a:xfrm>
            <a:off x="40923" y="5100482"/>
            <a:ext cx="1880011" cy="11847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Improve margin by 2-4 percentage points.</a:t>
            </a:r>
          </a:p>
        </p:txBody>
      </p:sp>
    </p:spTree>
    <p:extLst>
      <p:ext uri="{BB962C8B-B14F-4D97-AF65-F5344CB8AC3E}">
        <p14:creationId xmlns:p14="http://schemas.microsoft.com/office/powerpoint/2010/main" val="79098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255"/>
    </mc:Choice>
    <mc:Fallback xmlns="">
      <p:transition spd="slow" advTm="10925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E05F-A690-8D90-ED86-A95909994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AEEB3-5B3C-1E5D-8BBC-CC8DD5330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7397"/>
            <a:ext cx="10285325" cy="418646"/>
          </a:xfrm>
        </p:spPr>
        <p:txBody>
          <a:bodyPr>
            <a:noAutofit/>
          </a:bodyPr>
          <a:lstStyle/>
          <a:p>
            <a:pPr algn="ctr"/>
            <a:r>
              <a:rPr lang="it-IT" sz="3500" dirty="0" err="1"/>
              <a:t>What</a:t>
            </a:r>
            <a:r>
              <a:rPr lang="it-IT" sz="3500" dirty="0"/>
              <a:t> </a:t>
            </a:r>
            <a:r>
              <a:rPr lang="it-IT" sz="3500" dirty="0" err="1"/>
              <a:t>went</a:t>
            </a:r>
            <a:r>
              <a:rPr lang="it-IT" sz="3500" dirty="0"/>
              <a:t> </a:t>
            </a:r>
            <a:r>
              <a:rPr lang="it-IT" sz="3500" dirty="0" err="1"/>
              <a:t>wrong</a:t>
            </a:r>
            <a:r>
              <a:rPr lang="it-IT" sz="3500" dirty="0"/>
              <a:t>? Negative </a:t>
            </a:r>
            <a:r>
              <a:rPr lang="it-IT" sz="3500" dirty="0" err="1"/>
              <a:t>SKUs</a:t>
            </a:r>
            <a:r>
              <a:rPr lang="it-IT" sz="3500" dirty="0"/>
              <a:t> </a:t>
            </a:r>
            <a:r>
              <a:rPr lang="it-IT" sz="3500" dirty="0" err="1"/>
              <a:t>analysis</a:t>
            </a:r>
            <a:endParaRPr lang="en-US" sz="35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995AC-831D-6F90-E9DC-0BB30C269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42921" y="2372296"/>
            <a:ext cx="2257893" cy="41864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it-IT" sz="1800" b="1" dirty="0">
                <a:solidFill>
                  <a:srgbClr val="C00000"/>
                </a:solidFill>
              </a:rPr>
              <a:t>Loos by SKU (</a:t>
            </a:r>
            <a:r>
              <a:rPr lang="it-IT" sz="1800" b="1" dirty="0" err="1">
                <a:solidFill>
                  <a:srgbClr val="C00000"/>
                </a:solidFill>
              </a:rPr>
              <a:t>Provocaft</a:t>
            </a:r>
            <a:r>
              <a:rPr lang="it-IT" sz="1800" b="1" dirty="0">
                <a:solidFill>
                  <a:srgbClr val="C00000"/>
                </a:solidFill>
              </a:rPr>
              <a:t>):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670D681-3707-C312-A55E-010E82F29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737" y="1262035"/>
            <a:ext cx="5395242" cy="98626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dirty="0"/>
              <a:t>Most losses are concentrated in </a:t>
            </a:r>
            <a:r>
              <a:rPr lang="en-US" sz="2000" dirty="0">
                <a:solidFill>
                  <a:schemeClr val="accent2"/>
                </a:solidFill>
              </a:rPr>
              <a:t>November</a:t>
            </a:r>
            <a:r>
              <a:rPr lang="en-US" sz="2000" dirty="0"/>
              <a:t>, primarily due to ineffective pricing strategies, particularly excessive discounting.</a:t>
            </a:r>
            <a:br>
              <a:rPr lang="en-US" sz="2000" dirty="0"/>
            </a:br>
            <a:r>
              <a:rPr lang="en-US" sz="1100" dirty="0"/>
              <a:t>(next slide: Pricing details)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25CF4-06FD-CF1A-9AF7-524093014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339" y="2690603"/>
            <a:ext cx="5503059" cy="29385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99633E-0D94-8CEF-7F2B-0225A987C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523" y="5791964"/>
            <a:ext cx="1137875" cy="9569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7FCE79-0BE5-6164-78C5-224D30328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69" y="2690603"/>
            <a:ext cx="6185569" cy="3101361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552467C-C74D-682B-E2CE-449D4B2B4701}"/>
              </a:ext>
            </a:extLst>
          </p:cNvPr>
          <p:cNvSpPr/>
          <p:nvPr/>
        </p:nvSpPr>
        <p:spPr>
          <a:xfrm>
            <a:off x="241829" y="1162566"/>
            <a:ext cx="5503058" cy="120973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167D11C-8B06-50F1-E124-57688A653D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795" y="1282620"/>
            <a:ext cx="6392167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0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324"/>
    </mc:Choice>
    <mc:Fallback xmlns="">
      <p:transition spd="slow" advTm="7732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4C2CB-5ECE-ED95-AE7B-C5A5C09D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C0C2-0EB1-862B-1487-A72BD9FC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4927" y="80969"/>
            <a:ext cx="11972127" cy="418646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November Pricing Collapse: Technology Department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773690C-E6BB-C685-5772-2BED8DA3C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05" y="3720268"/>
            <a:ext cx="7597546" cy="2761677"/>
          </a:xfrm>
          <a:prstGeom prst="rect">
            <a:avLst/>
          </a:prstGeom>
        </p:spPr>
      </p:pic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5BDECD1-A1E1-C260-9178-A855146F53D4}"/>
              </a:ext>
            </a:extLst>
          </p:cNvPr>
          <p:cNvSpPr txBox="1">
            <a:spLocks/>
          </p:cNvSpPr>
          <p:nvPr/>
        </p:nvSpPr>
        <p:spPr>
          <a:xfrm>
            <a:off x="8271879" y="3570786"/>
            <a:ext cx="3283890" cy="3015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FINDINGS:</a:t>
            </a:r>
          </a:p>
          <a:p>
            <a:r>
              <a:rPr lang="en-US" sz="1400" dirty="0"/>
              <a:t>Many November negative‑margin SKUs were </a:t>
            </a:r>
            <a:r>
              <a:rPr lang="en-US" sz="1400" b="1" dirty="0"/>
              <a:t>already ~0% margin </a:t>
            </a:r>
            <a:r>
              <a:rPr lang="en-US" sz="1400" dirty="0"/>
              <a:t>before Black Friday</a:t>
            </a:r>
          </a:p>
          <a:p>
            <a:r>
              <a:rPr lang="en-US" sz="1400" dirty="0"/>
              <a:t>Extra discounts turned structurally weak products into loss makers</a:t>
            </a:r>
          </a:p>
          <a:p>
            <a:r>
              <a:rPr lang="en-US" sz="1400" dirty="0"/>
              <a:t>ACTION: </a:t>
            </a:r>
            <a:r>
              <a:rPr lang="en-US" sz="1400" b="1" dirty="0"/>
              <a:t>Delist</a:t>
            </a:r>
            <a:r>
              <a:rPr lang="en-US" sz="1400" dirty="0"/>
              <a:t> chronically low‑margin SKUs </a:t>
            </a:r>
            <a:r>
              <a:rPr lang="en-US" sz="1400" b="1" dirty="0"/>
              <a:t>unless</a:t>
            </a:r>
            <a:r>
              <a:rPr lang="en-US" sz="1400" dirty="0"/>
              <a:t> they are proven </a:t>
            </a:r>
            <a:r>
              <a:rPr lang="en-US" sz="1400" b="1" dirty="0"/>
              <a:t>loss leaders</a:t>
            </a:r>
          </a:p>
          <a:p>
            <a:r>
              <a:rPr lang="en-US" sz="1400" dirty="0"/>
              <a:t>Loss leaders are acceptable only when the </a:t>
            </a:r>
            <a:r>
              <a:rPr lang="en-US" sz="1400" b="1" dirty="0"/>
              <a:t>overall basket profitability stays positive</a:t>
            </a:r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9AA57F-0EAD-4EB0-3C89-0D9DE098B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05" y="581228"/>
            <a:ext cx="7164106" cy="2638636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0275BEC-7004-D526-6012-49A59C017BB4}"/>
              </a:ext>
            </a:extLst>
          </p:cNvPr>
          <p:cNvSpPr txBox="1">
            <a:spLocks/>
          </p:cNvSpPr>
          <p:nvPr/>
        </p:nvSpPr>
        <p:spPr>
          <a:xfrm>
            <a:off x="8038446" y="901818"/>
            <a:ext cx="4153554" cy="2038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November Price Drop </a:t>
            </a:r>
            <a:r>
              <a:rPr lang="en-US" sz="1600" dirty="0">
                <a:sym typeface="Wingdings" panose="05000000000000000000" pitchFamily="2" charset="2"/>
              </a:rPr>
              <a:t>  </a:t>
            </a:r>
            <a:endParaRPr lang="en-US" sz="1600" dirty="0"/>
          </a:p>
          <a:p>
            <a:pPr marL="0" indent="0">
              <a:buNone/>
            </a:pPr>
            <a:r>
              <a:rPr lang="en-US" sz="1400" dirty="0"/>
              <a:t>Median price fell from </a:t>
            </a:r>
            <a:r>
              <a:rPr lang="en-US" sz="1400" b="1" dirty="0"/>
              <a:t>$14.30 </a:t>
            </a:r>
            <a:r>
              <a:rPr lang="en-US" sz="1400" dirty="0"/>
              <a:t>(Oct) to </a:t>
            </a:r>
            <a:r>
              <a:rPr lang="en-US" sz="1400" b="1" dirty="0"/>
              <a:t>$8.50 </a:t>
            </a:r>
            <a:r>
              <a:rPr lang="en-US" sz="1400" dirty="0"/>
              <a:t>(Nov)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dirty="0"/>
              <a:t>November Profit Margin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endParaRPr lang="en-US" sz="1600" dirty="0"/>
          </a:p>
          <a:p>
            <a:pPr marL="0" indent="0">
              <a:buNone/>
            </a:pPr>
            <a:r>
              <a:rPr lang="en-US" sz="1400" dirty="0"/>
              <a:t>Profitability collapsed from </a:t>
            </a:r>
            <a:r>
              <a:rPr lang="en-US" sz="1400" b="1" dirty="0"/>
              <a:t>15%</a:t>
            </a:r>
            <a:r>
              <a:rPr lang="en-US" sz="1400" dirty="0"/>
              <a:t> to </a:t>
            </a:r>
            <a:r>
              <a:rPr lang="en-US" sz="1400" b="1" dirty="0"/>
              <a:t>-4%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0759BA-39CA-E350-1BE1-F6E7A9A32104}"/>
              </a:ext>
            </a:extLst>
          </p:cNvPr>
          <p:cNvSpPr/>
          <p:nvPr/>
        </p:nvSpPr>
        <p:spPr>
          <a:xfrm>
            <a:off x="10331652" y="827853"/>
            <a:ext cx="1066800" cy="41864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- 41%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82A8C9-2BDB-A0F7-F8E8-D10BF4C608E9}"/>
              </a:ext>
            </a:extLst>
          </p:cNvPr>
          <p:cNvSpPr/>
          <p:nvPr/>
        </p:nvSpPr>
        <p:spPr>
          <a:xfrm>
            <a:off x="10488969" y="1771664"/>
            <a:ext cx="1066800" cy="4186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- 4%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B4FDC3-0D4A-D57E-BF4A-F8CDD6E71205}"/>
              </a:ext>
            </a:extLst>
          </p:cNvPr>
          <p:cNvSpPr txBox="1"/>
          <p:nvPr/>
        </p:nvSpPr>
        <p:spPr>
          <a:xfrm>
            <a:off x="70631" y="3271229"/>
            <a:ext cx="1205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Tooltip</a:t>
            </a:r>
            <a:r>
              <a:rPr lang="en-US" sz="1600" dirty="0"/>
              <a:t> to analyze each </a:t>
            </a:r>
            <a:r>
              <a:rPr lang="en-US" sz="1600" b="1" dirty="0"/>
              <a:t>SKU:</a:t>
            </a:r>
            <a:r>
              <a:rPr lang="en-US" sz="1600" dirty="0"/>
              <a:t> It shows the period during which the loss was recorded and the median price change for that period.</a:t>
            </a:r>
          </a:p>
        </p:txBody>
      </p:sp>
    </p:spTree>
    <p:extLst>
      <p:ext uri="{BB962C8B-B14F-4D97-AF65-F5344CB8AC3E}">
        <p14:creationId xmlns:p14="http://schemas.microsoft.com/office/powerpoint/2010/main" val="57383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250"/>
    </mc:Choice>
    <mc:Fallback xmlns="">
      <p:transition spd="slow" advTm="14225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1316-0A2B-5355-46C7-E4B7FAAA8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874" y="-130629"/>
            <a:ext cx="5490673" cy="751114"/>
          </a:xfrm>
        </p:spPr>
        <p:txBody>
          <a:bodyPr>
            <a:normAutofit/>
          </a:bodyPr>
          <a:lstStyle/>
          <a:p>
            <a:r>
              <a:rPr lang="it-IT" dirty="0"/>
              <a:t>DASHBOARD 1 – Not </a:t>
            </a:r>
            <a:r>
              <a:rPr lang="it-IT" dirty="0" err="1"/>
              <a:t>filtered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960B2D-39DD-979A-B249-58E5015FB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46" y="773619"/>
            <a:ext cx="11730707" cy="549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77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7BE2-0A00-366C-AE09-068C6EAE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005" y="170623"/>
            <a:ext cx="3470787" cy="1020827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Filter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65F9B-51E1-4D09-7767-7B90DDF8C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4060" y="954907"/>
            <a:ext cx="9365065" cy="353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 err="1"/>
              <a:t>If</a:t>
            </a:r>
            <a:r>
              <a:rPr lang="it-IT" sz="1800" dirty="0"/>
              <a:t> I </a:t>
            </a:r>
            <a:r>
              <a:rPr lang="it-IT" sz="1800" dirty="0" err="1"/>
              <a:t>select</a:t>
            </a:r>
            <a:r>
              <a:rPr lang="it-IT" sz="1800" dirty="0"/>
              <a:t> </a:t>
            </a:r>
            <a:r>
              <a:rPr lang="it-IT" sz="1800" dirty="0" err="1"/>
              <a:t>Unique</a:t>
            </a:r>
            <a:r>
              <a:rPr lang="it-IT" sz="1800" dirty="0"/>
              <a:t>: (low </a:t>
            </a:r>
            <a:r>
              <a:rPr lang="it-IT" sz="1800" dirty="0" err="1"/>
              <a:t>volatility</a:t>
            </a:r>
            <a:r>
              <a:rPr lang="it-IT" sz="1800" dirty="0"/>
              <a:t> and high </a:t>
            </a:r>
            <a:r>
              <a:rPr lang="it-IT" sz="1800" dirty="0" err="1"/>
              <a:t>margin</a:t>
            </a:r>
            <a:r>
              <a:rPr lang="it-IT" sz="1800" dirty="0"/>
              <a:t>)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9D8A23-37B2-DB54-9D9D-A1B48D536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0" y="1424900"/>
            <a:ext cx="10874477" cy="515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30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E7270-205C-C4C0-8A41-32A51F17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307E-9C99-D7E3-AA82-C12445D6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006" y="170623"/>
            <a:ext cx="2932824" cy="512665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Filter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71186-1FE2-6CEE-CC55-04B507683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96" y="769154"/>
            <a:ext cx="9365065" cy="66712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 err="1"/>
              <a:t>If</a:t>
            </a:r>
            <a:r>
              <a:rPr lang="it-IT" dirty="0"/>
              <a:t> I </a:t>
            </a:r>
            <a:r>
              <a:rPr lang="it-IT" dirty="0" err="1"/>
              <a:t>select</a:t>
            </a:r>
            <a:r>
              <a:rPr lang="it-IT" dirty="0"/>
              <a:t> Puleo: (High </a:t>
            </a:r>
            <a:r>
              <a:rPr lang="it-IT" dirty="0" err="1"/>
              <a:t>volatility</a:t>
            </a:r>
            <a:r>
              <a:rPr lang="it-IT" dirty="0"/>
              <a:t> and </a:t>
            </a:r>
            <a:r>
              <a:rPr lang="it-IT" dirty="0" err="1"/>
              <a:t>avg</a:t>
            </a:r>
            <a:r>
              <a:rPr lang="it-IT" dirty="0"/>
              <a:t> </a:t>
            </a:r>
            <a:r>
              <a:rPr lang="it-IT" dirty="0" err="1"/>
              <a:t>margin</a:t>
            </a:r>
            <a:r>
              <a:rPr lang="it-IT" dirty="0"/>
              <a:t>).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 of the sales </a:t>
            </a:r>
            <a:r>
              <a:rPr lang="it-IT" dirty="0" err="1"/>
              <a:t>occur</a:t>
            </a:r>
            <a:r>
              <a:rPr lang="it-IT" dirty="0"/>
              <a:t> in November.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3BAD66-D09E-0577-A6E2-0B10E935C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786" y="1436277"/>
            <a:ext cx="10413442" cy="499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2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7C030-50A8-8C4D-4013-9FE99B593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90DA-88BA-EF10-3BDF-7ED023B8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006" y="170623"/>
            <a:ext cx="2932824" cy="512665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Filter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1927E-4D28-0436-2919-DC3282F19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96" y="769154"/>
            <a:ext cx="9365065" cy="667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If</a:t>
            </a:r>
            <a:r>
              <a:rPr lang="it-IT" dirty="0"/>
              <a:t> I </a:t>
            </a:r>
            <a:r>
              <a:rPr lang="it-IT" dirty="0" err="1"/>
              <a:t>select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November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D85EC-C660-3F5E-B3DC-FC2FAC9C0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62" y="1312521"/>
            <a:ext cx="11277600" cy="537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07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4182-B6D1-51FF-3BEA-54FC17EF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A22C-47A7-78DD-FC14-4660AAAB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874" y="-130629"/>
            <a:ext cx="5490673" cy="751114"/>
          </a:xfrm>
        </p:spPr>
        <p:txBody>
          <a:bodyPr>
            <a:normAutofit/>
          </a:bodyPr>
          <a:lstStyle/>
          <a:p>
            <a:r>
              <a:rPr lang="it-IT" dirty="0"/>
              <a:t>DASHBOARD 2 – no filter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CE5A3-A94F-54DD-B2FC-694B50869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47" y="813043"/>
            <a:ext cx="10634505" cy="523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20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1A303-8195-0A92-4040-9E0D7A492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9239-E0EF-2607-2DF5-CCF9F4E21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874" y="-130629"/>
            <a:ext cx="5490673" cy="751114"/>
          </a:xfrm>
        </p:spPr>
        <p:txBody>
          <a:bodyPr>
            <a:normAutofit fontScale="90000"/>
          </a:bodyPr>
          <a:lstStyle/>
          <a:p>
            <a:r>
              <a:rPr lang="it-IT" dirty="0"/>
              <a:t>DASHBOARD 2 – </a:t>
            </a:r>
            <a:r>
              <a:rPr lang="it-IT" dirty="0" err="1"/>
              <a:t>Filtered</a:t>
            </a:r>
            <a:r>
              <a:rPr lang="it-IT" dirty="0"/>
              <a:t> (</a:t>
            </a:r>
            <a:r>
              <a:rPr lang="it-IT" dirty="0" err="1"/>
              <a:t>hover</a:t>
            </a:r>
            <a:r>
              <a:rPr lang="it-IT" dirty="0"/>
              <a:t>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F07E6-1676-0F7B-64B8-6FB60633D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08" y="954540"/>
            <a:ext cx="10051701" cy="539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70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0FCA-251F-56AC-2A39-A9913ED82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14" y="117987"/>
            <a:ext cx="2768651" cy="671052"/>
          </a:xfrm>
        </p:spPr>
        <p:txBody>
          <a:bodyPr/>
          <a:lstStyle/>
          <a:p>
            <a:r>
              <a:rPr lang="it-IT"/>
              <a:t>Appendix1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6AA6A-5BFD-313D-F6B5-2539C2C60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4013" y="5245240"/>
            <a:ext cx="10685429" cy="821263"/>
          </a:xfrm>
        </p:spPr>
        <p:txBody>
          <a:bodyPr/>
          <a:lstStyle/>
          <a:p>
            <a:r>
              <a:rPr lang="en-US" dirty="0"/>
              <a:t>Median price drops sharply from $14 to $8.50 in November. Line thickness represents sales volume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thicker line = higher sales. Technology drives peak revenue through aggressive Black Friday discounting.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3F02AC-6FAF-6830-040F-8EC6441C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446" y="896630"/>
            <a:ext cx="7525093" cy="409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8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C8AF-CCFE-7D08-8AEE-63EB6A01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8244-3B8E-0E1F-5A5B-B9623BC0C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14" y="117987"/>
            <a:ext cx="2768651" cy="671052"/>
          </a:xfrm>
        </p:spPr>
        <p:txBody>
          <a:bodyPr/>
          <a:lstStyle/>
          <a:p>
            <a:r>
              <a:rPr lang="it-IT" dirty="0"/>
              <a:t>Appendix2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D50999-3CB9-1563-550D-6ED01F525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221" y="972632"/>
            <a:ext cx="9823437" cy="56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26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ADC6C-E8E4-6123-34DA-4C564CFF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472F-6006-37D1-2D8A-6F941B7AD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14" y="117987"/>
            <a:ext cx="9769434" cy="671052"/>
          </a:xfrm>
        </p:spPr>
        <p:txBody>
          <a:bodyPr>
            <a:normAutofit fontScale="90000"/>
          </a:bodyPr>
          <a:lstStyle/>
          <a:p>
            <a:r>
              <a:rPr lang="it-IT" dirty="0"/>
              <a:t>Appendix3    </a:t>
            </a:r>
            <a:r>
              <a:rPr lang="it-IT" dirty="0">
                <a:sym typeface="Wingdings" panose="05000000000000000000" pitchFamily="2" charset="2"/>
              </a:rPr>
              <a:t> In November, </a:t>
            </a:r>
            <a:r>
              <a:rPr lang="it-IT" dirty="0" err="1">
                <a:sym typeface="Wingdings" panose="05000000000000000000" pitchFamily="2" charset="2"/>
              </a:rPr>
              <a:t>we</a:t>
            </a:r>
            <a:r>
              <a:rPr lang="it-IT" dirty="0">
                <a:sym typeface="Wingdings" panose="05000000000000000000" pitchFamily="2" charset="2"/>
              </a:rPr>
              <a:t> sold a </a:t>
            </a:r>
            <a:r>
              <a:rPr lang="it-IT" dirty="0" err="1">
                <a:sym typeface="Wingdings" panose="05000000000000000000" pitchFamily="2" charset="2"/>
              </a:rPr>
              <a:t>lot</a:t>
            </a:r>
            <a:r>
              <a:rPr lang="it-IT" dirty="0">
                <a:sym typeface="Wingdings" panose="05000000000000000000" pitchFamily="2" charset="2"/>
              </a:rPr>
              <a:t> more </a:t>
            </a:r>
            <a:r>
              <a:rPr lang="it-IT" dirty="0" err="1">
                <a:sym typeface="Wingdings" panose="05000000000000000000" pitchFamily="2" charset="2"/>
              </a:rPr>
              <a:t>expensive</a:t>
            </a:r>
            <a:r>
              <a:rPr lang="it-IT" dirty="0">
                <a:sym typeface="Wingdings" panose="05000000000000000000" pitchFamily="2" charset="2"/>
              </a:rPr>
              <a:t> items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5E7B09-DB90-E40A-889E-BC12CB9C2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54" y="1189207"/>
            <a:ext cx="9271920" cy="49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39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8BA19-7EB0-E271-3123-7D9ECFCDF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3D25A-485B-413D-A6DA-ECE14AF36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14" y="117987"/>
            <a:ext cx="2768651" cy="671052"/>
          </a:xfrm>
        </p:spPr>
        <p:txBody>
          <a:bodyPr/>
          <a:lstStyle/>
          <a:p>
            <a:r>
              <a:rPr lang="it-IT" dirty="0"/>
              <a:t>Appendix4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E3C153-51FD-A00F-7E24-7613A28EB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34" y="1032936"/>
            <a:ext cx="10764803" cy="520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218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3A3BC-4B44-FC6B-AE18-074C6B3B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ACADD-1E7F-B698-89FF-E03A0FFB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14" y="117987"/>
            <a:ext cx="2768651" cy="671052"/>
          </a:xfrm>
        </p:spPr>
        <p:txBody>
          <a:bodyPr/>
          <a:lstStyle/>
          <a:p>
            <a:r>
              <a:rPr lang="it-IT" dirty="0"/>
              <a:t>Appendix5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9488A-38F1-59ED-72DF-D718CDFCB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8" y="789039"/>
            <a:ext cx="11674107" cy="572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00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5CAC-7213-3724-0ACF-7D2362DE1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D321-1A25-A439-78BC-D1228085B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14" y="117987"/>
            <a:ext cx="3958354" cy="671052"/>
          </a:xfrm>
        </p:spPr>
        <p:txBody>
          <a:bodyPr>
            <a:normAutofit/>
          </a:bodyPr>
          <a:lstStyle/>
          <a:p>
            <a:r>
              <a:rPr lang="it-IT" dirty="0"/>
              <a:t>Appendix6   - </a:t>
            </a:r>
            <a:r>
              <a:rPr lang="it-IT" dirty="0" err="1"/>
              <a:t>context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7B5AA7-6B08-CD5E-C116-B678A3A6BBAF}"/>
              </a:ext>
            </a:extLst>
          </p:cNvPr>
          <p:cNvSpPr txBox="1"/>
          <p:nvPr/>
        </p:nvSpPr>
        <p:spPr>
          <a:xfrm>
            <a:off x="1455173" y="5197496"/>
            <a:ext cx="99305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</a:rPr>
              <a:t>% </a:t>
            </a:r>
            <a:r>
              <a:rPr lang="en-US" b="0" i="0" dirty="0">
                <a:effectLst/>
                <a:sym typeface="Wingdings" panose="05000000000000000000" pitchFamily="2" charset="2"/>
              </a:rPr>
              <a:t> percentage of the department on total sales</a:t>
            </a:r>
            <a:br>
              <a:rPr lang="en-US" b="0" i="0" dirty="0">
                <a:effectLst/>
              </a:rPr>
            </a:br>
            <a:r>
              <a:rPr lang="en-US" b="0" i="0" dirty="0">
                <a:effectLst/>
              </a:rPr>
              <a:t>Technology dominates at 27% of total sales, followed by Greenery/Naturals at 21%. Christmas Decor/</a:t>
            </a:r>
            <a:r>
              <a:rPr lang="en-US" b="0" i="0" dirty="0" err="1">
                <a:effectLst/>
              </a:rPr>
              <a:t>Lemax</a:t>
            </a:r>
            <a:r>
              <a:rPr lang="en-US" b="0" i="0" dirty="0">
                <a:effectLst/>
              </a:rPr>
              <a:t> contributes 7%, while Seasonal Floral and Painting Art Supplies each represent around 5-7% of annual revenue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5047B5-0FC7-6251-5F38-3B1584472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96" y="1168001"/>
            <a:ext cx="7239189" cy="38553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FE5D4F-72E6-D7C9-F593-79EF9373F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6494" y="1522750"/>
            <a:ext cx="2209352" cy="79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485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</TotalTime>
  <Words>552</Words>
  <Application>Microsoft Office PowerPoint</Application>
  <PresentationFormat>Widescreen</PresentationFormat>
  <Paragraphs>64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A1 – Data Visualization</vt:lpstr>
      <vt:lpstr>2024 OVERVIEW</vt:lpstr>
      <vt:lpstr>Departments Strategic Positioning</vt:lpstr>
      <vt:lpstr>Vendor Portfolio Action Plan</vt:lpstr>
      <vt:lpstr>What went wrong? Negative SKUs analysis</vt:lpstr>
      <vt:lpstr>November Pricing Collapse: Technology Department</vt:lpstr>
      <vt:lpstr>DASHBOARD 1 – Not filtered</vt:lpstr>
      <vt:lpstr>Filter</vt:lpstr>
      <vt:lpstr>Filter</vt:lpstr>
      <vt:lpstr>Filter</vt:lpstr>
      <vt:lpstr>DASHBOARD 2 – no filter</vt:lpstr>
      <vt:lpstr>DASHBOARD 2 – Filtered (hover)</vt:lpstr>
      <vt:lpstr>Appendix1</vt:lpstr>
      <vt:lpstr>Appendix2</vt:lpstr>
      <vt:lpstr>Appendix3     In November, we sold a lot more expensive items </vt:lpstr>
      <vt:lpstr>Appendix4</vt:lpstr>
      <vt:lpstr>Appendix5</vt:lpstr>
      <vt:lpstr>Appendix6   - context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SIMONCELLI</dc:creator>
  <cp:lastModifiedBy>Alessandro SIMONCELLI</cp:lastModifiedBy>
  <cp:revision>3</cp:revision>
  <dcterms:created xsi:type="dcterms:W3CDTF">2026-02-15T20:56:06Z</dcterms:created>
  <dcterms:modified xsi:type="dcterms:W3CDTF">2026-07-31T20:34:11Z</dcterms:modified>
</cp:coreProperties>
</file>